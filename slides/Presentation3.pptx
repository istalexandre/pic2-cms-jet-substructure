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66" r:id="rId13"/>
    <p:sldId id="270" r:id="rId14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82"/>
  </p:normalViewPr>
  <p:slideViewPr>
    <p:cSldViewPr snapToGrid="0">
      <p:cViewPr>
        <p:scale>
          <a:sx n="86" d="100"/>
          <a:sy n="86" d="100"/>
        </p:scale>
        <p:origin x="1384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1664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503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7/6/26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97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180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58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378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93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598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910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19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73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7/6/26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149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3F13AAF-525E-4953-A67E-7B34FDB4D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B0BCD-B692-CD08-70CC-8442DCCDA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510" y="4575967"/>
            <a:ext cx="4457690" cy="1720850"/>
          </a:xfrm>
        </p:spPr>
        <p:txBody>
          <a:bodyPr anchor="ctr">
            <a:normAutofit/>
          </a:bodyPr>
          <a:lstStyle/>
          <a:p>
            <a:r>
              <a:rPr lang="en-US" dirty="0"/>
              <a:t>Progress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A1F15F-BD72-DBB4-0753-81DB9EF51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4801" y="4575967"/>
            <a:ext cx="4451347" cy="1720850"/>
          </a:xfrm>
        </p:spPr>
        <p:txBody>
          <a:bodyPr anchor="ctr">
            <a:normAutofit/>
          </a:bodyPr>
          <a:lstStyle/>
          <a:p>
            <a:r>
              <a:rPr lang="en-US" dirty="0"/>
              <a:t>08/07/26</a:t>
            </a:r>
          </a:p>
          <a:p>
            <a:r>
              <a:rPr lang="en-US" dirty="0"/>
              <a:t>Alexandre Mendonça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9D7585-E64C-25B4-54E2-8BAE11C318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808" b="11030"/>
          <a:stretch>
            <a:fillRect/>
          </a:stretch>
        </p:blipFill>
        <p:spPr>
          <a:xfrm>
            <a:off x="20" y="10"/>
            <a:ext cx="12191977" cy="401477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E97E5C-7A5F-424E-AAE4-654396E9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543639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589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3366B9-DC69-C9E1-0949-9ACD0437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395288"/>
            <a:ext cx="4078800" cy="1597753"/>
          </a:xfrm>
        </p:spPr>
        <p:txBody>
          <a:bodyPr wrap="square" anchor="b">
            <a:normAutofit/>
          </a:bodyPr>
          <a:lstStyle/>
          <a:p>
            <a:pPr algn="ctr"/>
            <a:r>
              <a:rPr lang="en-GB" dirty="0"/>
              <a:t>Spin Signal per Channel2</a:t>
            </a:r>
            <a:br>
              <a:rPr lang="en-GB" dirty="0"/>
            </a:br>
            <a:r>
              <a:rPr lang="en-GB" dirty="0"/>
              <a:t>pp 600to800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82F25-4E12-61DC-261F-8F0DAC05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000" y="2361601"/>
            <a:ext cx="4078800" cy="341690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GB" dirty="0"/>
              <a:t>⟨cos2</a:t>
            </a:r>
            <a:r>
              <a:rPr lang="el-GR" dirty="0"/>
              <a:t>ψ₁₂⟩ </a:t>
            </a:r>
            <a:r>
              <a:rPr lang="en-GB" dirty="0"/>
              <a:t>measured per secondary channel:</a:t>
            </a:r>
            <a:endParaRPr lang="en-GB"/>
          </a:p>
          <a:p>
            <a:pPr marL="702900" lvl="1" indent="-342900">
              <a:lnSpc>
                <a:spcPct val="140000"/>
              </a:lnSpc>
              <a:buFont typeface="Wingdings" pitchFamily="2" charset="2"/>
              <a:buChar char="Ø"/>
            </a:pPr>
            <a:r>
              <a:rPr lang="en-GB" i="0" dirty="0" err="1"/>
              <a:t>g→qq</a:t>
            </a:r>
            <a:r>
              <a:rPr lang="en-GB" i="0" dirty="0"/>
              <a:t>: −0.167;</a:t>
            </a:r>
            <a:endParaRPr lang="en-GB" i="0"/>
          </a:p>
          <a:p>
            <a:pPr marL="702900" lvl="1" indent="-342900">
              <a:lnSpc>
                <a:spcPct val="140000"/>
              </a:lnSpc>
              <a:buFont typeface="Wingdings" pitchFamily="2" charset="2"/>
              <a:buChar char="Ø"/>
            </a:pPr>
            <a:r>
              <a:rPr lang="en-GB" i="0" dirty="0" err="1"/>
              <a:t>q→qg</a:t>
            </a:r>
            <a:r>
              <a:rPr lang="en-GB" i="0" dirty="0"/>
              <a:t>: −0.091;</a:t>
            </a:r>
            <a:endParaRPr lang="en-GB" i="0"/>
          </a:p>
          <a:p>
            <a:pPr marL="702900" lvl="1" indent="-342900">
              <a:lnSpc>
                <a:spcPct val="140000"/>
              </a:lnSpc>
              <a:buFont typeface="Wingdings" pitchFamily="2" charset="2"/>
              <a:buChar char="Ø"/>
            </a:pPr>
            <a:r>
              <a:rPr lang="en-GB" i="0" dirty="0" err="1"/>
              <a:t>g→gg</a:t>
            </a:r>
            <a:r>
              <a:rPr lang="en-GB" i="0" dirty="0"/>
              <a:t>: −0.077;</a:t>
            </a:r>
            <a:endParaRPr lang="en-GB" i="0"/>
          </a:p>
          <a:p>
            <a:pPr>
              <a:lnSpc>
                <a:spcPct val="140000"/>
              </a:lnSpc>
            </a:pPr>
            <a:r>
              <a:rPr lang="en-GB" dirty="0" err="1"/>
              <a:t>g→qq</a:t>
            </a:r>
            <a:r>
              <a:rPr lang="en-GB" dirty="0"/>
              <a:t>̄ </a:t>
            </a:r>
            <a:r>
              <a:rPr lang="el-GR" dirty="0"/>
              <a:t>ψ₁₂ </a:t>
            </a:r>
            <a:r>
              <a:rPr lang="en-GB" dirty="0"/>
              <a:t>distribution peaks at </a:t>
            </a:r>
            <a:r>
              <a:rPr lang="el-GR" dirty="0"/>
              <a:t>π/2</a:t>
            </a:r>
            <a:r>
              <a:rPr lang="pt-PT" dirty="0"/>
              <a:t>.</a:t>
            </a:r>
            <a:endParaRPr lang="en-GB"/>
          </a:p>
          <a:p>
            <a:pPr>
              <a:lnSpc>
                <a:spcPct val="140000"/>
              </a:lnSpc>
            </a:pPr>
            <a:endParaRPr lang="en-GB" i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graph of a heatmap&#10;&#10;AI-generated content may be incorrect.">
            <a:extLst>
              <a:ext uri="{FF2B5EF4-FFF2-40B4-BE49-F238E27FC236}">
                <a16:creationId xmlns:a16="http://schemas.microsoft.com/office/drawing/2014/main" id="{BB2D2534-35C9-7479-8875-5FD55ADF5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27" y="1627714"/>
            <a:ext cx="4999885" cy="359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3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4B72BA-6964-CBC2-7853-437633B6B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7F6696-BEE1-47CC-B6D1-08AEA2630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395288"/>
            <a:ext cx="4078800" cy="1597753"/>
          </a:xfrm>
        </p:spPr>
        <p:txBody>
          <a:bodyPr wrap="square" anchor="b">
            <a:normAutofit/>
          </a:bodyPr>
          <a:lstStyle/>
          <a:p>
            <a:pPr algn="ctr"/>
            <a:r>
              <a:rPr lang="en-GB" dirty="0"/>
              <a:t>Spin Signal per Channel2</a:t>
            </a:r>
            <a:br>
              <a:rPr lang="en-GB" dirty="0"/>
            </a:br>
            <a:r>
              <a:rPr lang="en-GB" dirty="0"/>
              <a:t>pp 800to1000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22C94-8D8A-B1A0-7806-C0B0B6378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000" y="2361601"/>
            <a:ext cx="4078800" cy="341690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GB" dirty="0"/>
              <a:t>⟨cos2</a:t>
            </a:r>
            <a:r>
              <a:rPr lang="el-GR" dirty="0"/>
              <a:t>ψ₁₂⟩ </a:t>
            </a:r>
            <a:r>
              <a:rPr lang="en-GB" dirty="0"/>
              <a:t>measured per secondary channel:</a:t>
            </a:r>
          </a:p>
          <a:p>
            <a:pPr marL="702900" lvl="1" indent="-342900">
              <a:lnSpc>
                <a:spcPct val="140000"/>
              </a:lnSpc>
              <a:buFont typeface="Wingdings" pitchFamily="2" charset="2"/>
              <a:buChar char="Ø"/>
            </a:pPr>
            <a:r>
              <a:rPr lang="en-GB" i="0" dirty="0" err="1"/>
              <a:t>g→qq</a:t>
            </a:r>
            <a:r>
              <a:rPr lang="en-GB" i="0" dirty="0"/>
              <a:t>: −0.1731;</a:t>
            </a:r>
          </a:p>
          <a:p>
            <a:pPr marL="702900" lvl="1" indent="-342900">
              <a:lnSpc>
                <a:spcPct val="140000"/>
              </a:lnSpc>
              <a:buFont typeface="Wingdings" pitchFamily="2" charset="2"/>
              <a:buChar char="Ø"/>
            </a:pPr>
            <a:r>
              <a:rPr lang="en-GB" i="0" dirty="0" err="1"/>
              <a:t>q→qg</a:t>
            </a:r>
            <a:r>
              <a:rPr lang="en-GB" i="0" dirty="0"/>
              <a:t>: −0.0861;</a:t>
            </a:r>
          </a:p>
          <a:p>
            <a:pPr marL="702900" lvl="1" indent="-342900">
              <a:lnSpc>
                <a:spcPct val="140000"/>
              </a:lnSpc>
              <a:buFont typeface="Wingdings" pitchFamily="2" charset="2"/>
              <a:buChar char="Ø"/>
            </a:pPr>
            <a:r>
              <a:rPr lang="en-GB" i="0" dirty="0" err="1"/>
              <a:t>g→gg</a:t>
            </a:r>
            <a:r>
              <a:rPr lang="en-GB" i="0" dirty="0"/>
              <a:t>: −0.0701;</a:t>
            </a:r>
          </a:p>
          <a:p>
            <a:pPr>
              <a:lnSpc>
                <a:spcPct val="140000"/>
              </a:lnSpc>
            </a:pPr>
            <a:r>
              <a:rPr lang="en-GB" dirty="0" err="1"/>
              <a:t>g→qq</a:t>
            </a:r>
            <a:r>
              <a:rPr lang="en-GB" dirty="0"/>
              <a:t>̄ </a:t>
            </a:r>
            <a:r>
              <a:rPr lang="el-GR" dirty="0"/>
              <a:t>ψ₁₂ </a:t>
            </a:r>
            <a:r>
              <a:rPr lang="en-GB" dirty="0"/>
              <a:t>distribution peaks at </a:t>
            </a:r>
            <a:r>
              <a:rPr lang="el-GR" dirty="0"/>
              <a:t>π/2</a:t>
            </a:r>
            <a:r>
              <a:rPr lang="pt-PT" dirty="0"/>
              <a:t>.</a:t>
            </a:r>
            <a:endParaRPr lang="en-GB" dirty="0"/>
          </a:p>
          <a:p>
            <a:pPr>
              <a:lnSpc>
                <a:spcPct val="140000"/>
              </a:lnSpc>
            </a:pPr>
            <a:endParaRPr lang="en-GB" i="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835808A-EF2A-E178-6EC0-FCEFC5F48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27" y="1627714"/>
            <a:ext cx="4999885" cy="359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183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45FAB3-BA2F-221A-0A86-402E24C8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395288"/>
            <a:ext cx="4078800" cy="1597753"/>
          </a:xfrm>
        </p:spPr>
        <p:txBody>
          <a:bodyPr wrap="square" anchor="b">
            <a:normAutofit/>
          </a:bodyPr>
          <a:lstStyle/>
          <a:p>
            <a:pPr algn="ctr"/>
            <a:r>
              <a:rPr lang="en-GB" dirty="0"/>
              <a:t>Stage-1: Binary Matched vs Unmatched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ED3C5-780C-4636-968A-08A076144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000" y="2361601"/>
            <a:ext cx="4078800" cy="3416900"/>
          </a:xfrm>
        </p:spPr>
        <p:txBody>
          <a:bodyPr>
            <a:normAutofit/>
          </a:bodyPr>
          <a:lstStyle/>
          <a:p>
            <a:r>
              <a:rPr lang="en-GB" sz="1900" dirty="0"/>
              <a:t>Binary filter to remove unmatched jets before channel classification;</a:t>
            </a:r>
          </a:p>
          <a:p>
            <a:r>
              <a:rPr lang="en-GB" sz="1900" dirty="0"/>
              <a:t>Test ROC-AUC = 0.84, PR-AUC = 0.66, macro F1 = 0.743;</a:t>
            </a:r>
          </a:p>
          <a:p>
            <a:r>
              <a:rPr lang="en-GB" sz="1900" dirty="0"/>
              <a:t>Up to 91% matched purity at tight threshold.</a:t>
            </a:r>
          </a:p>
          <a:p>
            <a:endParaRPr lang="en-US" sz="19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F5A875F-59D0-D30B-C79F-928FAF9FA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27" y="1290222"/>
            <a:ext cx="4999885" cy="427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124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27689-CEC4-4874-5705-3284205D0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395288"/>
            <a:ext cx="4078800" cy="1597753"/>
          </a:xfrm>
        </p:spPr>
        <p:txBody>
          <a:bodyPr wrap="square" anchor="b">
            <a:normAutofit/>
          </a:bodyPr>
          <a:lstStyle/>
          <a:p>
            <a:pPr algn="ctr"/>
            <a:r>
              <a:rPr lang="en-GB" dirty="0"/>
              <a:t>Stage-2: Binary </a:t>
            </a:r>
            <a:r>
              <a:rPr lang="en-GB" dirty="0" err="1"/>
              <a:t>qq</a:t>
            </a:r>
            <a:r>
              <a:rPr lang="en-GB" dirty="0"/>
              <a:t> vs Rest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583F3-1D2C-5E9D-2DF1-FF94FE739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000" y="2361601"/>
            <a:ext cx="4078800" cy="341690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GB" sz="1700" dirty="0"/>
              <a:t>Signal = </a:t>
            </a:r>
            <a:r>
              <a:rPr lang="en-GB" sz="1700" dirty="0" err="1"/>
              <a:t>g→qq</a:t>
            </a:r>
            <a:r>
              <a:rPr lang="en-GB" sz="1700" dirty="0"/>
              <a:t>, background = </a:t>
            </a:r>
            <a:r>
              <a:rPr lang="en-GB" sz="1700" dirty="0" err="1"/>
              <a:t>qg+gg</a:t>
            </a:r>
            <a:r>
              <a:rPr lang="en-GB" sz="1700" dirty="0"/>
              <a:t>; focal loss, balanced weights;</a:t>
            </a:r>
          </a:p>
          <a:p>
            <a:pPr>
              <a:lnSpc>
                <a:spcPct val="140000"/>
              </a:lnSpc>
            </a:pPr>
            <a:r>
              <a:rPr lang="en-GB" sz="1700" dirty="0"/>
              <a:t>Test ROC-AUC = 0.714, PR-AUC = 0.314;</a:t>
            </a:r>
          </a:p>
          <a:p>
            <a:pPr>
              <a:lnSpc>
                <a:spcPct val="140000"/>
              </a:lnSpc>
            </a:pPr>
            <a:r>
              <a:rPr lang="en-GB" sz="1700" dirty="0"/>
              <a:t>AUC saturates ~0.71 even with ~5M rows meaning physics ceiling and not data-limited.</a:t>
            </a:r>
          </a:p>
          <a:p>
            <a:pPr>
              <a:lnSpc>
                <a:spcPct val="140000"/>
              </a:lnSpc>
            </a:pPr>
            <a:endParaRPr lang="en-US" sz="17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C8D92DA-4223-2455-3B1E-6985030571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/>
        </p:blipFill>
        <p:spPr>
          <a:xfrm>
            <a:off x="6651127" y="1365219"/>
            <a:ext cx="4999885" cy="412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526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7411E4-CDA7-1609-7FEC-CC205F339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395288"/>
            <a:ext cx="4078800" cy="1597753"/>
          </a:xfrm>
        </p:spPr>
        <p:txBody>
          <a:bodyPr wrap="square" anchor="b">
            <a:normAutofit/>
          </a:bodyPr>
          <a:lstStyle/>
          <a:p>
            <a:pPr algn="ctr"/>
            <a:r>
              <a:rPr lang="en-GB" dirty="0"/>
              <a:t>Purity vs Efficiency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D74D8-5814-3B0B-A924-B818BA09D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000" y="2361601"/>
            <a:ext cx="4078800" cy="341690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GB" sz="1700"/>
              <a:t>Tightening the </a:t>
            </a:r>
            <a:r>
              <a:rPr lang="en-GB" sz="1700" err="1"/>
              <a:t>qq</a:t>
            </a:r>
            <a:r>
              <a:rPr lang="en-GB" sz="1700"/>
              <a:t> score trades efficiency for purity;</a:t>
            </a:r>
          </a:p>
          <a:p>
            <a:pPr marL="702900" lvl="1" indent="-342900">
              <a:lnSpc>
                <a:spcPct val="140000"/>
              </a:lnSpc>
              <a:buFont typeface="Wingdings" pitchFamily="2" charset="2"/>
              <a:buChar char="Ø"/>
            </a:pPr>
            <a:r>
              <a:rPr lang="en-GB" sz="1700" i="0" err="1"/>
              <a:t>thr</a:t>
            </a:r>
            <a:r>
              <a:rPr lang="en-GB" sz="1700" i="0"/>
              <a:t> 0.45, purity 50%, N=81911;</a:t>
            </a:r>
          </a:p>
          <a:p>
            <a:pPr marL="702900" lvl="1" indent="-342900">
              <a:lnSpc>
                <a:spcPct val="140000"/>
              </a:lnSpc>
              <a:buFont typeface="Wingdings" pitchFamily="2" charset="2"/>
              <a:buChar char="Ø"/>
            </a:pPr>
            <a:r>
              <a:rPr lang="en-GB" sz="1700" i="0" err="1"/>
              <a:t>thr</a:t>
            </a:r>
            <a:r>
              <a:rPr lang="en-GB" sz="1700" i="0"/>
              <a:t> 0.55, purity 72%, N=10111;</a:t>
            </a:r>
          </a:p>
          <a:p>
            <a:pPr marL="702900" lvl="1" indent="-342900">
              <a:lnSpc>
                <a:spcPct val="140000"/>
              </a:lnSpc>
              <a:buFont typeface="Wingdings" pitchFamily="2" charset="2"/>
              <a:buChar char="Ø"/>
            </a:pPr>
            <a:r>
              <a:rPr lang="en-GB" sz="1700" i="0" err="1"/>
              <a:t>thr</a:t>
            </a:r>
            <a:r>
              <a:rPr lang="en-GB" sz="1700" i="0"/>
              <a:t> 0.60, purity 80%, N=2455.</a:t>
            </a:r>
            <a:endParaRPr lang="en-US" sz="1700" i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98CE7B2-1C5A-436A-A930-121F7FCA2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27" y="1877708"/>
            <a:ext cx="4999885" cy="309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241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4DA0FF-D1FB-90F8-E8C6-DA73D38B2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395288"/>
            <a:ext cx="4078800" cy="1597753"/>
          </a:xfrm>
        </p:spPr>
        <p:txBody>
          <a:bodyPr wrap="square" anchor="b">
            <a:normAutofit/>
          </a:bodyPr>
          <a:lstStyle/>
          <a:p>
            <a:pPr algn="ctr"/>
            <a:r>
              <a:rPr lang="en-GB" dirty="0"/>
              <a:t>Selection Deepens the Modulation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6CA28-0BFE-F892-04B9-945839ECD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000" y="2361601"/>
            <a:ext cx="4078800" cy="3416900"/>
          </a:xfrm>
        </p:spPr>
        <p:txBody>
          <a:bodyPr>
            <a:normAutofit/>
          </a:bodyPr>
          <a:lstStyle/>
          <a:p>
            <a:r>
              <a:rPr lang="en-GB" dirty="0"/>
              <a:t>⟨cos2</a:t>
            </a:r>
            <a:r>
              <a:rPr lang="el-GR" dirty="0"/>
              <a:t>ψ₁₂⟩ </a:t>
            </a:r>
            <a:r>
              <a:rPr lang="en-GB" dirty="0"/>
              <a:t>deepens monotonically as </a:t>
            </a:r>
            <a:r>
              <a:rPr lang="en-GB" dirty="0" err="1"/>
              <a:t>qq</a:t>
            </a:r>
            <a:r>
              <a:rPr lang="en-GB" dirty="0"/>
              <a:t> purity rises;</a:t>
            </a:r>
          </a:p>
          <a:p>
            <a:r>
              <a:rPr lang="en-GB" dirty="0"/>
              <a:t>Background (</a:t>
            </a:r>
            <a:r>
              <a:rPr lang="en-GB" dirty="0" err="1"/>
              <a:t>qg+gg</a:t>
            </a:r>
            <a:r>
              <a:rPr lang="en-GB" dirty="0"/>
              <a:t>) stays at −0.075.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ack screen with white numbers and symbols&#10;&#10;AI-generated content may be incorrect.">
            <a:extLst>
              <a:ext uri="{FF2B5EF4-FFF2-40B4-BE49-F238E27FC236}">
                <a16:creationId xmlns:a16="http://schemas.microsoft.com/office/drawing/2014/main" id="{648BBFAF-40DC-AC0A-5421-5FBF87A30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27" y="1396470"/>
            <a:ext cx="4999885" cy="406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806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5CCF49-DC98-0C21-A903-E9616EB26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423382"/>
            <a:ext cx="4078800" cy="1569660"/>
          </a:xfrm>
        </p:spPr>
        <p:txBody>
          <a:bodyPr wrap="square" anchor="b">
            <a:normAutofit/>
          </a:bodyPr>
          <a:lstStyle/>
          <a:p>
            <a:pPr algn="ctr"/>
            <a:r>
              <a:rPr lang="en-US" dirty="0"/>
              <a:t>Applying stage-1 on pp-600to800 MC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C31AD-42EC-B47C-030C-5F423A82E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000" y="2361601"/>
            <a:ext cx="4078800" cy="34169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Stage-1 transfers across </a:t>
            </a:r>
            <a:r>
              <a:rPr lang="en-US" dirty="0" err="1"/>
              <a:t>pT</a:t>
            </a:r>
            <a:r>
              <a:rPr lang="en-US" dirty="0"/>
              <a:t> bins: model trained on 800to1000 works on 600to800;</a:t>
            </a:r>
          </a:p>
          <a:p>
            <a:r>
              <a:rPr lang="en-US" dirty="0"/>
              <a:t>Clean separation at the extremes: matched jets peak high, unmatched peak low;</a:t>
            </a:r>
          </a:p>
          <a:p>
            <a:r>
              <a:rPr lang="en-US" dirty="0"/>
              <a:t>Middle overlap sets the purity–efficiency trade-off;</a:t>
            </a:r>
          </a:p>
          <a:p>
            <a:r>
              <a:rPr lang="en-US" dirty="0"/>
              <a:t>Chose a threshold of 0.85.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ddedede">
            <a:extLst>
              <a:ext uri="{FF2B5EF4-FFF2-40B4-BE49-F238E27FC236}">
                <a16:creationId xmlns:a16="http://schemas.microsoft.com/office/drawing/2014/main" id="{63CEEAF6-F1E3-DE1B-44B8-1F0B2208B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292" y="210363"/>
            <a:ext cx="4609202" cy="28577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E870A9-2F26-C1E2-531E-79430ACE9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291" y="3595619"/>
            <a:ext cx="4609205" cy="27540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65B5770-8DA6-777F-532D-D73961204AD8}"/>
              </a:ext>
            </a:extLst>
          </p:cNvPr>
          <p:cNvSpPr txBox="1">
            <a:spLocks/>
          </p:cNvSpPr>
          <p:nvPr/>
        </p:nvSpPr>
        <p:spPr>
          <a:xfrm>
            <a:off x="6848292" y="3068067"/>
            <a:ext cx="6095993" cy="5759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000" indent="-3600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0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1400" dirty="0"/>
              <a:t>Fig 1: Stage-1 DNN on test pp-800to1000 MC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B0F716-EF69-F162-5A88-94205B82917C}"/>
              </a:ext>
            </a:extLst>
          </p:cNvPr>
          <p:cNvSpPr txBox="1">
            <a:spLocks/>
          </p:cNvSpPr>
          <p:nvPr/>
        </p:nvSpPr>
        <p:spPr>
          <a:xfrm>
            <a:off x="6848291" y="6349619"/>
            <a:ext cx="6095993" cy="5759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000" indent="-3600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0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1400" dirty="0"/>
              <a:t>Fig 2: Stage-1 DNN on test pp-600to800 MC</a:t>
            </a:r>
          </a:p>
        </p:txBody>
      </p:sp>
    </p:spTree>
    <p:extLst>
      <p:ext uri="{BB962C8B-B14F-4D97-AF65-F5344CB8AC3E}">
        <p14:creationId xmlns:p14="http://schemas.microsoft.com/office/powerpoint/2010/main" val="4157750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A9C4E-4A5D-3E34-7192-E5124109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395288"/>
            <a:ext cx="4078800" cy="1597753"/>
          </a:xfrm>
        </p:spPr>
        <p:txBody>
          <a:bodyPr wrap="square" anchor="b">
            <a:normAutofit/>
          </a:bodyPr>
          <a:lstStyle/>
          <a:p>
            <a:pPr algn="ctr"/>
            <a:r>
              <a:rPr lang="en-US" dirty="0"/>
              <a:t>Applying stage-2 on pp-600to800 MC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6EC95-B254-181F-9DD8-F3486C828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000" y="2361601"/>
            <a:ext cx="4078800" cy="3416900"/>
          </a:xfrm>
        </p:spPr>
        <p:txBody>
          <a:bodyPr>
            <a:normAutofit/>
          </a:bodyPr>
          <a:lstStyle/>
          <a:p>
            <a:r>
              <a:rPr lang="en-US" dirty="0"/>
              <a:t>Stage-2 is much harder than stage-1;</a:t>
            </a:r>
          </a:p>
          <a:p>
            <a:r>
              <a:rPr lang="en-US" dirty="0"/>
              <a:t>True </a:t>
            </a:r>
            <a:r>
              <a:rPr lang="en-US" dirty="0" err="1"/>
              <a:t>qq</a:t>
            </a:r>
            <a:r>
              <a:rPr lang="en-US" dirty="0"/>
              <a:t> overlaps non-</a:t>
            </a:r>
            <a:r>
              <a:rPr lang="en-US" dirty="0" err="1"/>
              <a:t>qq</a:t>
            </a:r>
            <a:r>
              <a:rPr lang="en-US" dirty="0"/>
              <a:t> almost entirely;</a:t>
            </a:r>
          </a:p>
          <a:p>
            <a:r>
              <a:rPr lang="en-GB" dirty="0"/>
              <a:t>Reflects AUC ~0.72 physics limit</a:t>
            </a:r>
            <a:r>
              <a:rPr lang="en-US" dirty="0"/>
              <a:t>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1FE7481-3453-364B-FFD7-25A774864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27" y="1933957"/>
            <a:ext cx="4999885" cy="29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688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09FFCD-5D05-2A76-2780-8F4000D85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395288"/>
            <a:ext cx="4078800" cy="1597753"/>
          </a:xfrm>
        </p:spPr>
        <p:txBody>
          <a:bodyPr wrap="square" anchor="b">
            <a:normAutofit/>
          </a:bodyPr>
          <a:lstStyle/>
          <a:p>
            <a:pPr algn="ctr"/>
            <a:r>
              <a:rPr lang="en-US" dirty="0"/>
              <a:t>Stage-1 and Stage-2 on pp600to800 MC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EBBEE-B1B6-F2F3-C040-895F90702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000" y="2361601"/>
            <a:ext cx="4078800" cy="34169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Tightening the cut raises purity (0.2 → 0.82), lowers efficiency;</a:t>
            </a:r>
          </a:p>
          <a:p>
            <a:r>
              <a:rPr lang="en-GB" dirty="0"/>
              <a:t>Purity–efficiency cross near threshold ~0.40;</a:t>
            </a:r>
          </a:p>
          <a:p>
            <a:r>
              <a:rPr lang="en-GB" dirty="0"/>
              <a:t>High purity (&gt;0.8) reachable, but at low efficiency.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C8CC305-0C09-9652-AE4B-12921B0C0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27" y="1871459"/>
            <a:ext cx="4999885" cy="311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796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2EC047-D4D9-1CFE-8E2C-476AAF661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BABB2-B053-2108-5C81-68F32C678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395288"/>
            <a:ext cx="4078800" cy="1597753"/>
          </a:xfrm>
        </p:spPr>
        <p:txBody>
          <a:bodyPr wrap="square" anchor="b">
            <a:normAutofit/>
          </a:bodyPr>
          <a:lstStyle/>
          <a:p>
            <a:pPr algn="ctr"/>
            <a:r>
              <a:rPr lang="en-US" dirty="0"/>
              <a:t>Stage-1 and Stage-2 on pp600to800 MC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1BF83-C6BA-C8D0-ACD5-D46BF6AFE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999" y="2361600"/>
            <a:ext cx="4550867" cy="3844327"/>
          </a:xfrm>
        </p:spPr>
        <p:txBody>
          <a:bodyPr>
            <a:noAutofit/>
          </a:bodyPr>
          <a:lstStyle/>
          <a:p>
            <a:r>
              <a:rPr lang="en-GB" sz="1800" dirty="0"/>
              <a:t>⟨cos2</a:t>
            </a:r>
            <a:r>
              <a:rPr lang="el-GR" sz="1800" dirty="0"/>
              <a:t>ψ₁₂⟩ </a:t>
            </a:r>
            <a:r>
              <a:rPr lang="en-GB" sz="1800" dirty="0"/>
              <a:t>deepens monotonically as the </a:t>
            </a:r>
            <a:r>
              <a:rPr lang="en-GB" sz="1800" dirty="0" err="1"/>
              <a:t>qq</a:t>
            </a:r>
            <a:r>
              <a:rPr lang="en-GB" sz="1800" dirty="0"/>
              <a:t> cut tightens;</a:t>
            </a:r>
          </a:p>
          <a:p>
            <a:r>
              <a:rPr lang="en-GB" sz="1800" dirty="0"/>
              <a:t>Selection surpasses the IFN </a:t>
            </a:r>
            <a:r>
              <a:rPr lang="en-GB" sz="1800" dirty="0" err="1"/>
              <a:t>qq</a:t>
            </a:r>
            <a:r>
              <a:rPr lang="en-GB" sz="1800" dirty="0"/>
              <a:t> label (with stage-1 threshold &gt;0.85) above threshold ~0.55;</a:t>
            </a:r>
          </a:p>
          <a:p>
            <a:r>
              <a:rPr lang="en-GB" sz="1800" dirty="0"/>
              <a:t>Reaches ~−0.5 at tightest cuts, approaching theory but error bars grow.</a:t>
            </a:r>
          </a:p>
          <a:p>
            <a:endParaRPr lang="en-US" sz="1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F540135-33A7-BF7A-AF1B-42A43EA74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27" y="1871459"/>
            <a:ext cx="4999885" cy="311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545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35D7D1-23FB-E125-AF0C-8D16F093E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5DDB0E-E6EE-5569-8390-3919A8CF2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395288"/>
            <a:ext cx="4078800" cy="1597753"/>
          </a:xfrm>
        </p:spPr>
        <p:txBody>
          <a:bodyPr wrap="square" anchor="b">
            <a:normAutofit/>
          </a:bodyPr>
          <a:lstStyle/>
          <a:p>
            <a:pPr algn="ctr"/>
            <a:r>
              <a:rPr lang="en-US" dirty="0"/>
              <a:t>Stage-1 and Stage-2 on pp data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33F42-B0CB-F75E-4971-60EA4F5D9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000" y="2361601"/>
            <a:ext cx="4078800" cy="3416900"/>
          </a:xfrm>
        </p:spPr>
        <p:txBody>
          <a:bodyPr>
            <a:normAutofit lnSpcReduction="10000"/>
          </a:bodyPr>
          <a:lstStyle/>
          <a:p>
            <a:pPr>
              <a:lnSpc>
                <a:spcPct val="140000"/>
              </a:lnSpc>
            </a:pPr>
            <a:r>
              <a:rPr lang="en-GB" sz="1600" dirty="0"/>
              <a:t>Two-stage selection applied to real pp data;</a:t>
            </a:r>
          </a:p>
          <a:p>
            <a:pPr>
              <a:lnSpc>
                <a:spcPct val="140000"/>
              </a:lnSpc>
            </a:pPr>
            <a:r>
              <a:rPr lang="en-GB" sz="1600" dirty="0"/>
              <a:t>⟨cos2</a:t>
            </a:r>
            <a:r>
              <a:rPr lang="el-GR" sz="1600" dirty="0"/>
              <a:t>ψ₁₂⟩ </a:t>
            </a:r>
            <a:r>
              <a:rPr lang="en-GB" sz="1600" dirty="0"/>
              <a:t>deepens from the inclusive ~−0.125 to ~−0.25 as the cut tightens;</a:t>
            </a:r>
          </a:p>
          <a:p>
            <a:pPr>
              <a:lnSpc>
                <a:spcPct val="140000"/>
              </a:lnSpc>
            </a:pPr>
            <a:r>
              <a:rPr lang="en-GB" sz="1600" dirty="0"/>
              <a:t>Same enrichment trend as MC.</a:t>
            </a:r>
          </a:p>
          <a:p>
            <a:pPr>
              <a:lnSpc>
                <a:spcPct val="140000"/>
              </a:lnSpc>
            </a:pPr>
            <a:r>
              <a:rPr lang="en-GB" sz="1600" dirty="0"/>
              <a:t>Evidence the selection works on data, though statistics-limited at high cuts.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4838F1B-243E-59EA-70D3-BA5C907AB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27" y="1877708"/>
            <a:ext cx="4999885" cy="309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306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2D1BE-9EFD-33D1-BE32-CBE8B8419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600" y="540033"/>
            <a:ext cx="4078800" cy="643926"/>
          </a:xfrm>
        </p:spPr>
        <p:txBody>
          <a:bodyPr wrap="square" anchor="b">
            <a:normAutofit/>
          </a:bodyPr>
          <a:lstStyle/>
          <a:p>
            <a:pPr algn="ctr"/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696A3-B195-668D-D44A-E999C8526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600" y="1507162"/>
            <a:ext cx="4901121" cy="4295983"/>
          </a:xfrm>
        </p:spPr>
        <p:txBody>
          <a:bodyPr>
            <a:noAutofit/>
          </a:bodyPr>
          <a:lstStyle/>
          <a:p>
            <a:pPr>
              <a:lnSpc>
                <a:spcPct val="140000"/>
              </a:lnSpc>
            </a:pPr>
            <a:r>
              <a:rPr lang="en-US" sz="1600" dirty="0"/>
              <a:t>Spin signal validated: </a:t>
            </a:r>
            <a:r>
              <a:rPr lang="en-US" sz="1600" dirty="0" err="1"/>
              <a:t>g→qq</a:t>
            </a:r>
            <a:r>
              <a:rPr lang="en-US" sz="1600" dirty="0"/>
              <a:t>̄ shows a clear negative modulation. </a:t>
            </a:r>
          </a:p>
          <a:p>
            <a:pPr>
              <a:lnSpc>
                <a:spcPct val="140000"/>
              </a:lnSpc>
            </a:pPr>
            <a:r>
              <a:rPr lang="en-US" sz="1600" dirty="0"/>
              <a:t>Selection works: the two-stage DNN enriches </a:t>
            </a:r>
            <a:r>
              <a:rPr lang="en-US" sz="1600" dirty="0" err="1"/>
              <a:t>qq</a:t>
            </a:r>
            <a:r>
              <a:rPr lang="en-US" sz="1600" dirty="0"/>
              <a:t> purity and deepens the modulation monotonically with an AUC ceiling ~0.72 that is a physics limit, not a data limit.</a:t>
            </a:r>
          </a:p>
          <a:p>
            <a:pPr>
              <a:lnSpc>
                <a:spcPct val="140000"/>
              </a:lnSpc>
            </a:pPr>
            <a:r>
              <a:rPr lang="en-US" sz="1600" dirty="0"/>
              <a:t>Confirmed in real data: the same deepening trend appears in pp collision data, validating the method end-to-end, </a:t>
            </a:r>
            <a:r>
              <a:rPr lang="en-US" sz="1600" dirty="0" err="1"/>
              <a:t>howver</a:t>
            </a:r>
            <a:r>
              <a:rPr lang="en-US" sz="1600" dirty="0"/>
              <a:t> statistics-limited at high purity.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7DE04CFF-5703-4E04-1F46-F528EF07E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27" y="1877708"/>
            <a:ext cx="4999885" cy="309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982638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2774</TotalTime>
  <Words>573</Words>
  <Application>Microsoft Macintosh PowerPoint</Application>
  <PresentationFormat>Widescreen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Avenir Next LT Pro</vt:lpstr>
      <vt:lpstr>Goudy Old Style</vt:lpstr>
      <vt:lpstr>Wingdings</vt:lpstr>
      <vt:lpstr>FrostyVTI</vt:lpstr>
      <vt:lpstr>Progress Report</vt:lpstr>
      <vt:lpstr>Spin Signal per Channel2 pp 600to800</vt:lpstr>
      <vt:lpstr>Spin Signal per Channel2 pp 800to1000</vt:lpstr>
      <vt:lpstr>Stage-1: Binary Matched vs Unmatched</vt:lpstr>
      <vt:lpstr>Stage-2: Binary qq vs Rest</vt:lpstr>
      <vt:lpstr>Purity vs Efficiency</vt:lpstr>
      <vt:lpstr>Selection Deepens the Modulation</vt:lpstr>
      <vt:lpstr>Applying stage-1 on pp-600to800 MC</vt:lpstr>
      <vt:lpstr>Applying stage-2 on pp-600to800 MC</vt:lpstr>
      <vt:lpstr>Stage-1 and Stage-2 on pp600to800 MC result</vt:lpstr>
      <vt:lpstr>Stage-1 and Stage-2 on pp600to800 MC result</vt:lpstr>
      <vt:lpstr>Stage-1 and Stage-2 on pp data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MARIA NEVES DE BARBOSA MENDONÇA</dc:creator>
  <cp:lastModifiedBy>ALEXANDRE MARIA NEVES DE BARBOSA MENDONÇA</cp:lastModifiedBy>
  <cp:revision>8</cp:revision>
  <dcterms:created xsi:type="dcterms:W3CDTF">2025-10-24T13:12:01Z</dcterms:created>
  <dcterms:modified xsi:type="dcterms:W3CDTF">2026-07-08T08:59:49Z</dcterms:modified>
</cp:coreProperties>
</file>