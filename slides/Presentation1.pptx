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8"/>
  </p:normalViewPr>
  <p:slideViewPr>
    <p:cSldViewPr snapToGrid="0">
      <p:cViewPr varScale="1">
        <p:scale>
          <a:sx n="98" d="100"/>
          <a:sy n="9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1664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0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9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80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7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93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9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91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1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10/24/25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7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4EC743F4-8769-40B4-85DF-6CB8DE9F66AA}" type="datetimeFigureOut">
              <a:rPr lang="en-US" smtClean="0"/>
              <a:pPr/>
              <a:t>10/24/25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49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opendata.cern.ch/record/3050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807.0475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3F13AAF-525E-4953-A67E-7B34FDB4D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0B0BCD-B692-CD08-70CC-8442DCCD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575967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1F15F-BD72-DBB4-0753-81DB9EF513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575967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24/10/25</a:t>
            </a:r>
          </a:p>
          <a:p>
            <a:r>
              <a:rPr lang="en-US" dirty="0"/>
              <a:t>Alexandre Mendonça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D7585-E64C-25B4-54E2-8BAE11C318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808" b="11030"/>
          <a:stretch>
            <a:fillRect/>
          </a:stretch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363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58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66C9CD-6BF4-44CA-8078-0BB819080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57B18F-8658-7E8A-BF82-A6F865B7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6328800" cy="1112836"/>
          </a:xfrm>
        </p:spPr>
        <p:txBody>
          <a:bodyPr>
            <a:normAutofit/>
          </a:bodyPr>
          <a:lstStyle/>
          <a:p>
            <a:pPr algn="ctr"/>
            <a:r>
              <a:rPr lang="en-US"/>
              <a:t>CERN’s Open Data: </a:t>
            </a:r>
            <a:r>
              <a:rPr lang="en-US">
                <a:hlinkClick r:id="rId2"/>
              </a:rPr>
              <a:t>CMS JetHT MiniAOD 2016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EF24-5432-7484-24E4-CAB53814E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06" y="1903414"/>
            <a:ext cx="6651994" cy="3913700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sz="1900" dirty="0"/>
              <a:t>CMS </a:t>
            </a:r>
            <a:r>
              <a:rPr lang="en-US" sz="1900" dirty="0" err="1"/>
              <a:t>MiniAOD</a:t>
            </a:r>
            <a:r>
              <a:rPr lang="en-US" sz="1900" dirty="0"/>
              <a:t> data format contains jet constituents;</a:t>
            </a:r>
          </a:p>
          <a:p>
            <a:pPr>
              <a:lnSpc>
                <a:spcPct val="140000"/>
              </a:lnSpc>
            </a:pPr>
            <a:r>
              <a:rPr lang="en-US" sz="1900" dirty="0"/>
              <a:t>In this data (</a:t>
            </a:r>
            <a:r>
              <a:rPr lang="en-US" sz="1900" dirty="0" err="1"/>
              <a:t>JetHT</a:t>
            </a:r>
            <a:r>
              <a:rPr lang="en-US" sz="1900" dirty="0"/>
              <a:t>) selected events contain the presence of a high scalar sum of the jet transverse momenta (HT), or at least one or two energetic jets;</a:t>
            </a:r>
          </a:p>
          <a:p>
            <a:pPr>
              <a:lnSpc>
                <a:spcPct val="140000"/>
              </a:lnSpc>
            </a:pPr>
            <a:r>
              <a:rPr lang="en-US" sz="1900" dirty="0"/>
              <a:t>Required using CMS Open data docker container to analyze </a:t>
            </a:r>
            <a:r>
              <a:rPr lang="en-US" sz="1900" dirty="0" err="1"/>
              <a:t>MiniAOD</a:t>
            </a:r>
            <a:r>
              <a:rPr lang="en-US" sz="1900" dirty="0"/>
              <a:t> data;</a:t>
            </a:r>
          </a:p>
          <a:p>
            <a:pPr>
              <a:lnSpc>
                <a:spcPct val="140000"/>
              </a:lnSpc>
            </a:pPr>
            <a:r>
              <a:rPr lang="en-US" sz="1900" dirty="0"/>
              <a:t>Made a python2 script able to retrieve required jet and jet’s constituent variables and store them in a .root tree file.</a:t>
            </a:r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6B18E9C-AC83-50F9-7314-E97F2BFF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27" b="-3"/>
          <a:stretch>
            <a:fillRect/>
          </a:stretch>
        </p:blipFill>
        <p:spPr>
          <a:xfrm>
            <a:off x="7766050" y="540000"/>
            <a:ext cx="3884962" cy="57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4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7F04-0760-46C4-98C7-9DC45AE38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Fastjet</a:t>
            </a:r>
            <a:r>
              <a:rPr lang="en-US" dirty="0"/>
              <a:t> and </a:t>
            </a:r>
            <a:r>
              <a:rPr lang="en-US" dirty="0" err="1"/>
              <a:t>LundPlane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4B874-8676-A36A-9A0F-3F44FD748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213200" cy="4505869"/>
          </a:xfrm>
        </p:spPr>
        <p:txBody>
          <a:bodyPr>
            <a:normAutofit/>
          </a:bodyPr>
          <a:lstStyle/>
          <a:p>
            <a:r>
              <a:rPr lang="en-US" dirty="0"/>
              <a:t>Used </a:t>
            </a:r>
            <a:r>
              <a:rPr lang="en-US" dirty="0" err="1"/>
              <a:t>Fastjet</a:t>
            </a:r>
            <a:r>
              <a:rPr lang="en-US" dirty="0"/>
              <a:t> and </a:t>
            </a:r>
            <a:r>
              <a:rPr lang="en-US" dirty="0" err="1"/>
              <a:t>LundPlane</a:t>
            </a:r>
            <a:r>
              <a:rPr lang="en-US" dirty="0"/>
              <a:t> C++ libraries to perform a </a:t>
            </a:r>
            <a:r>
              <a:rPr lang="en-US" dirty="0" err="1"/>
              <a:t>recluster</a:t>
            </a:r>
            <a:r>
              <a:rPr lang="en-US" dirty="0"/>
              <a:t> of the jet’s constituents;</a:t>
            </a:r>
          </a:p>
          <a:p>
            <a:r>
              <a:rPr lang="en-US" dirty="0" err="1"/>
              <a:t>LundPlane</a:t>
            </a:r>
            <a:r>
              <a:rPr lang="en-US" dirty="0"/>
              <a:t> library is based on </a:t>
            </a:r>
            <a:r>
              <a:rPr lang="en-US" dirty="0">
                <a:hlinkClick r:id="rId2"/>
              </a:rPr>
              <a:t>[1807.04758] The Lund Jet Plane</a:t>
            </a:r>
            <a:r>
              <a:rPr lang="en-US" dirty="0"/>
              <a:t>;</a:t>
            </a:r>
          </a:p>
          <a:p>
            <a:r>
              <a:rPr lang="en-US" dirty="0"/>
              <a:t>About the </a:t>
            </a:r>
            <a:r>
              <a:rPr lang="en-US" dirty="0" err="1"/>
              <a:t>recluster</a:t>
            </a:r>
            <a:r>
              <a:rPr lang="en-US" dirty="0"/>
              <a:t> used C/A algorithm with R = 0.4 or R = 0.8 depending on the labeled jet type in the CMS open data file (ak4 or ak8);</a:t>
            </a:r>
          </a:p>
          <a:p>
            <a:r>
              <a:rPr lang="en-US" dirty="0"/>
              <a:t>Was able to create a C++ script capable of storing </a:t>
            </a:r>
            <a:r>
              <a:rPr lang="en-US" dirty="0" err="1"/>
              <a:t>LundPlane</a:t>
            </a:r>
            <a:r>
              <a:rPr lang="en-US" dirty="0"/>
              <a:t> variables in the same .root file. </a:t>
            </a:r>
          </a:p>
          <a:p>
            <a:pPr marL="0" indent="0">
              <a:buNone/>
            </a:pPr>
            <a:r>
              <a:rPr lang="en-US" dirty="0"/>
              <a:t>Note: Was able retrieve Lund variables without using </a:t>
            </a:r>
            <a:r>
              <a:rPr lang="en-US" dirty="0" err="1"/>
              <a:t>LundPlane</a:t>
            </a:r>
            <a:r>
              <a:rPr lang="en-US" dirty="0"/>
              <a:t> library.</a:t>
            </a:r>
          </a:p>
        </p:txBody>
      </p:sp>
    </p:spTree>
    <p:extLst>
      <p:ext uri="{BB962C8B-B14F-4D97-AF65-F5344CB8AC3E}">
        <p14:creationId xmlns:p14="http://schemas.microsoft.com/office/powerpoint/2010/main" val="2355892583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186</Words>
  <Application>Microsoft Macintosh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</vt:lpstr>
      <vt:lpstr>Goudy Old Style</vt:lpstr>
      <vt:lpstr>Wingdings</vt:lpstr>
      <vt:lpstr>FrostyVTI</vt:lpstr>
      <vt:lpstr>Progress Report</vt:lpstr>
      <vt:lpstr>CERN’s Open Data: CMS JetHT MiniAOD 2016</vt:lpstr>
      <vt:lpstr>Fastjet and LundPlane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ALEXANDRE MARIA NEVES DE BARBOSA MENDONÇA</dc:creator>
  <cp:lastModifiedBy>ALEXANDRE MARIA NEVES DE BARBOSA MENDONÇA</cp:lastModifiedBy>
  <cp:revision>1</cp:revision>
  <dcterms:created xsi:type="dcterms:W3CDTF">2025-10-24T13:12:01Z</dcterms:created>
  <dcterms:modified xsi:type="dcterms:W3CDTF">2025-10-24T18:37:48Z</dcterms:modified>
</cp:coreProperties>
</file>