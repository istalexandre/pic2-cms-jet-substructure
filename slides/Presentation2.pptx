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2"/>
  </p:normalViewPr>
  <p:slideViewPr>
    <p:cSldViewPr snapToGrid="0">
      <p:cViewPr varScale="1">
        <p:scale>
          <a:sx n="85" d="100"/>
          <a:sy n="85" d="100"/>
        </p:scale>
        <p:origin x="17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166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0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9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8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7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9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9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91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6/24/26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4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B0BCD-B692-CD08-70CC-8442DCCD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575967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1F15F-BD72-DBB4-0753-81DB9EF51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575967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24/06/26</a:t>
            </a:r>
          </a:p>
          <a:p>
            <a:r>
              <a:rPr lang="en-US" dirty="0"/>
              <a:t>Alexandre Mendonça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D7585-E64C-25B4-54E2-8BAE11C31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08" b="11030"/>
          <a:stretch>
            <a:fillRect/>
          </a:stretch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58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BD72E-8C38-37C0-95F7-AF815E43D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US" dirty="0"/>
              <a:t>Dataset and Labelling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FBD4-2180-3DEA-0CE8-25F530201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00" dirty="0"/>
              <a:t>~5.85M labeled jet </a:t>
            </a:r>
            <a:r>
              <a:rPr lang="en-US" sz="1700" dirty="0" err="1"/>
              <a:t>splittings</a:t>
            </a:r>
            <a:r>
              <a:rPr lang="en-US" sz="1700" dirty="0"/>
              <a:t> from CMS Open Data (</a:t>
            </a:r>
            <a:r>
              <a:rPr lang="en-US" sz="1700" dirty="0" err="1"/>
              <a:t>pT</a:t>
            </a:r>
            <a:r>
              <a:rPr lang="en-US" sz="1700" dirty="0"/>
              <a:t> &gt; 700 GeV);</a:t>
            </a:r>
          </a:p>
          <a:p>
            <a:pPr>
              <a:lnSpc>
                <a:spcPct val="140000"/>
              </a:lnSpc>
            </a:pPr>
            <a:r>
              <a:rPr lang="en-US" sz="1700" dirty="0"/>
              <a:t>Two-vertex labels: primary (intermediate </a:t>
            </a:r>
            <a:r>
              <a:rPr lang="en-US" sz="1700" dirty="0" err="1"/>
              <a:t>parton</a:t>
            </a:r>
            <a:r>
              <a:rPr lang="en-US" sz="1700" dirty="0"/>
              <a:t>) and secondary (measured splitting);</a:t>
            </a:r>
          </a:p>
          <a:p>
            <a:pPr>
              <a:lnSpc>
                <a:spcPct val="140000"/>
              </a:lnSpc>
            </a:pPr>
            <a:r>
              <a:rPr lang="en-GB" sz="1700" dirty="0"/>
              <a:t>1 = </a:t>
            </a:r>
            <a:r>
              <a:rPr lang="en-GB" sz="1700" dirty="0" err="1"/>
              <a:t>g→qq</a:t>
            </a:r>
            <a:r>
              <a:rPr lang="en-GB" sz="1700" dirty="0"/>
              <a:t>, 2 = </a:t>
            </a:r>
            <a:r>
              <a:rPr lang="en-GB" sz="1700" dirty="0" err="1"/>
              <a:t>q→qg</a:t>
            </a:r>
            <a:r>
              <a:rPr lang="en-GB" sz="1700" dirty="0"/>
              <a:t>, 3 = </a:t>
            </a:r>
            <a:r>
              <a:rPr lang="en-GB" sz="1700" dirty="0" err="1"/>
              <a:t>g→gg</a:t>
            </a:r>
            <a:r>
              <a:rPr lang="en-GB" sz="1700" dirty="0"/>
              <a:t>, 4 = rest; unmatched = 0.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heatmap&#10;&#10;AI-generated content may be incorrect.">
            <a:extLst>
              <a:ext uri="{FF2B5EF4-FFF2-40B4-BE49-F238E27FC236}">
                <a16:creationId xmlns:a16="http://schemas.microsoft.com/office/drawing/2014/main" id="{B5553939-35AA-1B8C-ACDC-B47240292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627714"/>
            <a:ext cx="4999885" cy="359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8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366B9-DC69-C9E1-0949-9ACD0437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Spin Signal per Channel2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2F25-4E12-61DC-261F-8F0DAC0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dirty="0"/>
              <a:t>⟨cos2</a:t>
            </a:r>
            <a:r>
              <a:rPr lang="el-GR" dirty="0"/>
              <a:t>ψ₁₂⟩ </a:t>
            </a:r>
            <a:r>
              <a:rPr lang="en-GB" dirty="0"/>
              <a:t>measured per secondary channel:</a:t>
            </a:r>
            <a:endParaRPr lang="en-GB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g→qq</a:t>
            </a:r>
            <a:r>
              <a:rPr lang="en-GB" i="0" dirty="0"/>
              <a:t>: −0.167;</a:t>
            </a:r>
            <a:endParaRPr lang="en-GB" i="0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q→qg</a:t>
            </a:r>
            <a:r>
              <a:rPr lang="en-GB" i="0" dirty="0"/>
              <a:t>: −0.091;</a:t>
            </a:r>
            <a:endParaRPr lang="en-GB" i="0"/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i="0" dirty="0" err="1"/>
              <a:t>g→gg</a:t>
            </a:r>
            <a:r>
              <a:rPr lang="en-GB" i="0" dirty="0"/>
              <a:t>: −0.077;</a:t>
            </a:r>
            <a:endParaRPr lang="en-GB" i="0"/>
          </a:p>
          <a:p>
            <a:pPr>
              <a:lnSpc>
                <a:spcPct val="140000"/>
              </a:lnSpc>
            </a:pPr>
            <a:r>
              <a:rPr lang="en-GB" dirty="0" err="1"/>
              <a:t>g→qq</a:t>
            </a:r>
            <a:r>
              <a:rPr lang="en-GB" dirty="0"/>
              <a:t>̄ </a:t>
            </a:r>
            <a:r>
              <a:rPr lang="el-GR" dirty="0"/>
              <a:t>ψ₁₂ </a:t>
            </a:r>
            <a:r>
              <a:rPr lang="en-GB" dirty="0"/>
              <a:t>distribution peaks at </a:t>
            </a:r>
            <a:r>
              <a:rPr lang="el-GR" dirty="0"/>
              <a:t>π/2</a:t>
            </a:r>
            <a:r>
              <a:rPr lang="pt-PT" dirty="0"/>
              <a:t>.</a:t>
            </a:r>
            <a:endParaRPr lang="en-GB"/>
          </a:p>
          <a:p>
            <a:pPr>
              <a:lnSpc>
                <a:spcPct val="140000"/>
              </a:lnSpc>
            </a:pPr>
            <a:endParaRPr lang="en-GB" i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distribution channel&#10;&#10;AI-generated content may be incorrect.">
            <a:extLst>
              <a:ext uri="{FF2B5EF4-FFF2-40B4-BE49-F238E27FC236}">
                <a16:creationId xmlns:a16="http://schemas.microsoft.com/office/drawing/2014/main" id="{F70E290E-6D52-815D-A9AF-EF81D8F06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631231"/>
            <a:ext cx="4999885" cy="359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4D1F0-3338-A76C-D5B4-D8BFE0370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Two-Vertex Structure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20D43-04D6-0733-F451-79246B15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700" dirty="0"/>
              <a:t>Focusing on </a:t>
            </a:r>
            <a:r>
              <a:rPr lang="en-GB" sz="1700" dirty="0"/>
              <a:t>secondary </a:t>
            </a:r>
            <a:r>
              <a:rPr lang="en-GB" sz="1700" dirty="0" err="1"/>
              <a:t>g→qq</a:t>
            </a:r>
            <a:r>
              <a:rPr lang="en-GB" sz="1700" dirty="0"/>
              <a:t> split by primary label: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/>
              <a:t>primary </a:t>
            </a:r>
            <a:r>
              <a:rPr lang="en-GB" sz="1700" i="0" dirty="0" err="1"/>
              <a:t>q→qg</a:t>
            </a:r>
            <a:r>
              <a:rPr lang="en-GB" sz="1700" i="0" dirty="0"/>
              <a:t> ⟨cos2</a:t>
            </a:r>
            <a:r>
              <a:rPr lang="el-GR" sz="1700" i="0" dirty="0"/>
              <a:t>ψ₁₂⟩</a:t>
            </a:r>
            <a:r>
              <a:rPr lang="en-GB" sz="1700" i="0" dirty="0"/>
              <a:t>: −0.167;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/>
              <a:t>primary </a:t>
            </a:r>
            <a:r>
              <a:rPr lang="en-GB" sz="1700" i="0" dirty="0" err="1"/>
              <a:t>g→gg</a:t>
            </a:r>
            <a:r>
              <a:rPr lang="en-GB" sz="1700" i="0" dirty="0"/>
              <a:t> ⟨cos2</a:t>
            </a:r>
            <a:r>
              <a:rPr lang="el-GR" sz="1700" i="0" dirty="0"/>
              <a:t>ψ₁₂⟩</a:t>
            </a:r>
            <a:r>
              <a:rPr lang="en-GB" sz="1700" i="0" dirty="0"/>
              <a:t>: −0.173;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/>
              <a:t>primary </a:t>
            </a:r>
            <a:r>
              <a:rPr lang="en-GB" sz="1700" i="0" dirty="0" err="1"/>
              <a:t>g→qq</a:t>
            </a:r>
            <a:r>
              <a:rPr lang="en-GB" sz="1700" i="0" dirty="0"/>
              <a:t> ⟨cos2</a:t>
            </a:r>
            <a:r>
              <a:rPr lang="el-GR" sz="1700" i="0" dirty="0"/>
              <a:t>ψ₁₂⟩</a:t>
            </a:r>
            <a:r>
              <a:rPr lang="pt-PT" sz="1700" i="0" dirty="0"/>
              <a:t> </a:t>
            </a:r>
            <a:r>
              <a:rPr lang="en-GB" sz="1700" i="0" dirty="0"/>
              <a:t>≈ 0.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endParaRPr lang="en-US" sz="1700" i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graph of a graph with blue squares&#10;&#10;AI-generated content may be incorrect.">
            <a:extLst>
              <a:ext uri="{FF2B5EF4-FFF2-40B4-BE49-F238E27FC236}">
                <a16:creationId xmlns:a16="http://schemas.microsoft.com/office/drawing/2014/main" id="{3228FC39-A16E-23DF-4E5C-854A4F1E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727713"/>
            <a:ext cx="4999885" cy="3399919"/>
          </a:xfrm>
          <a:prstGeom prst="rect">
            <a:avLst/>
          </a:prstGeom>
        </p:spPr>
      </p:pic>
      <p:sp>
        <p:nvSpPr>
          <p:cNvPr id="4" name="AutoShape 1">
            <a:extLst>
              <a:ext uri="{FF2B5EF4-FFF2-40B4-BE49-F238E27FC236}">
                <a16:creationId xmlns:a16="http://schemas.microsoft.com/office/drawing/2014/main" id="{81A1C73E-3E54-49F1-371D-D4FD42CC87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5E1365-E044-E8C9-52EB-F9C897DA0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PT" altLang="en-PT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PT" altLang="en-PT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6CEAA-3D4E-5B1F-8664-4AE144FC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423382"/>
            <a:ext cx="4078800" cy="1569660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4-Class and 3-Class DNNs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60A73-A20A-E186-783E-9CEF3FEFA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700" dirty="0"/>
              <a:t>4-class (unmatched/</a:t>
            </a:r>
            <a:r>
              <a:rPr lang="en-GB" sz="1700" dirty="0" err="1"/>
              <a:t>qq</a:t>
            </a:r>
            <a:r>
              <a:rPr lang="en-GB" sz="1700" dirty="0"/>
              <a:t>̄/</a:t>
            </a:r>
            <a:r>
              <a:rPr lang="en-GB" sz="1700" dirty="0" err="1"/>
              <a:t>qg</a:t>
            </a:r>
            <a:r>
              <a:rPr lang="en-GB" sz="1700" dirty="0"/>
              <a:t>/gg): test accuracy 0.73 but macro F1 = 0.44 (unmatched dominates);</a:t>
            </a:r>
          </a:p>
          <a:p>
            <a:pPr>
              <a:lnSpc>
                <a:spcPct val="140000"/>
              </a:lnSpc>
            </a:pPr>
            <a:r>
              <a:rPr lang="en-GB" sz="1700" dirty="0"/>
              <a:t>3-class matched (</a:t>
            </a:r>
            <a:r>
              <a:rPr lang="en-GB" sz="1700" dirty="0" err="1"/>
              <a:t>qq</a:t>
            </a:r>
            <a:r>
              <a:rPr lang="en-GB" sz="1700" dirty="0"/>
              <a:t>̄/</a:t>
            </a:r>
            <a:r>
              <a:rPr lang="en-GB" sz="1700" dirty="0" err="1"/>
              <a:t>qg</a:t>
            </a:r>
            <a:r>
              <a:rPr lang="en-GB" sz="1700" dirty="0"/>
              <a:t>/gg): macro F1 = 0.47; </a:t>
            </a:r>
            <a:r>
              <a:rPr lang="en-GB" sz="1700" dirty="0" err="1"/>
              <a:t>qq</a:t>
            </a:r>
            <a:r>
              <a:rPr lang="en-GB" sz="1700" dirty="0"/>
              <a:t>̄ purity 53% at score ≥ 0.6;</a:t>
            </a:r>
          </a:p>
          <a:p>
            <a:pPr>
              <a:lnSpc>
                <a:spcPct val="140000"/>
              </a:lnSpc>
            </a:pPr>
            <a:r>
              <a:rPr lang="en-GB" sz="1700" dirty="0"/>
              <a:t>Multi-class diluted by imbalance of classes so we switch to binary.</a:t>
            </a:r>
            <a:endParaRPr lang="en-US" sz="1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EF751E8-62E1-3F4E-DD98-22A50AC7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681" y="3518812"/>
            <a:ext cx="3656639" cy="3190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5417FB-1365-8FCA-F350-8438C3A9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681" y="252758"/>
            <a:ext cx="3656639" cy="311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4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45FAB3-BA2F-221A-0A86-402E24C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Stage-1: Binary Matched vs Unmatched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D3C5-780C-4636-968A-08A076144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r>
              <a:rPr lang="en-GB" sz="1900"/>
              <a:t>Binary filter to remove unmatched jets before channel classification;</a:t>
            </a:r>
          </a:p>
          <a:p>
            <a:r>
              <a:rPr lang="en-GB" sz="1900"/>
              <a:t>Test ROC-AUC = 0.84, PR-AUC = 0.66, macro F1 = 0.74;</a:t>
            </a:r>
          </a:p>
          <a:p>
            <a:r>
              <a:rPr lang="en-GB" sz="1900"/>
              <a:t>Up to 89% matched purity at tight threshold.</a:t>
            </a:r>
          </a:p>
          <a:p>
            <a:endParaRPr lang="en-US" sz="19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8884972-9EF1-92F1-1A17-80503AA1E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290222"/>
            <a:ext cx="4999885" cy="42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2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27689-CEC4-4874-5705-3284205D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Stage-2: Binary </a:t>
            </a:r>
            <a:r>
              <a:rPr lang="en-GB" dirty="0" err="1"/>
              <a:t>qq</a:t>
            </a:r>
            <a:r>
              <a:rPr lang="en-GB" dirty="0"/>
              <a:t> vs Rest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83F3-1D2C-5E9D-2DF1-FF94FE739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700"/>
              <a:t>Signal = </a:t>
            </a:r>
            <a:r>
              <a:rPr lang="en-GB" sz="1700" err="1"/>
              <a:t>g→qq</a:t>
            </a:r>
            <a:r>
              <a:rPr lang="en-GB" sz="1700"/>
              <a:t>, background = </a:t>
            </a:r>
            <a:r>
              <a:rPr lang="en-GB" sz="1700" err="1"/>
              <a:t>qg+gg</a:t>
            </a:r>
            <a:r>
              <a:rPr lang="en-GB" sz="1700"/>
              <a:t>; focal loss, balanced weights;</a:t>
            </a:r>
          </a:p>
          <a:p>
            <a:pPr>
              <a:lnSpc>
                <a:spcPct val="140000"/>
              </a:lnSpc>
            </a:pPr>
            <a:r>
              <a:rPr lang="en-GB" sz="1700"/>
              <a:t>Test ROC-AUC = 0.72, PR-AUC = 0.32;</a:t>
            </a:r>
          </a:p>
          <a:p>
            <a:pPr>
              <a:lnSpc>
                <a:spcPct val="140000"/>
              </a:lnSpc>
            </a:pPr>
            <a:r>
              <a:rPr lang="en-GB" sz="1700"/>
              <a:t>AUC saturates ~0.72 even with 5.8M rows meaning physics ceiling and not data-limited.</a:t>
            </a:r>
          </a:p>
          <a:p>
            <a:pPr>
              <a:lnSpc>
                <a:spcPct val="140000"/>
              </a:lnSpc>
            </a:pPr>
            <a:endParaRPr lang="en-US" sz="17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D81FDED-A71F-87B2-82B4-E1F77B487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/>
        </p:blipFill>
        <p:spPr>
          <a:xfrm>
            <a:off x="6651127" y="1365219"/>
            <a:ext cx="4999885" cy="412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2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411E4-CDA7-1609-7FEC-CC205F33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Purity vs Efficiency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D74D8-5814-3B0B-A924-B818BA09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700" dirty="0"/>
              <a:t>Tightening the </a:t>
            </a:r>
            <a:r>
              <a:rPr lang="en-GB" sz="1700" dirty="0" err="1"/>
              <a:t>qq</a:t>
            </a:r>
            <a:r>
              <a:rPr lang="en-GB" sz="1700" dirty="0"/>
              <a:t> score trades efficiency for purity;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 err="1"/>
              <a:t>thr</a:t>
            </a:r>
            <a:r>
              <a:rPr lang="en-GB" sz="1700" i="0" dirty="0"/>
              <a:t> 0.45, purity 50%, N=7719;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 err="1"/>
              <a:t>thr</a:t>
            </a:r>
            <a:r>
              <a:rPr lang="en-GB" sz="1700" i="0" dirty="0"/>
              <a:t> 0.55, purity 72%, N=1043;</a:t>
            </a:r>
          </a:p>
          <a:p>
            <a:pPr marL="702900" lvl="1" indent="-342900">
              <a:lnSpc>
                <a:spcPct val="140000"/>
              </a:lnSpc>
              <a:buFont typeface="Wingdings" pitchFamily="2" charset="2"/>
              <a:buChar char="Ø"/>
            </a:pPr>
            <a:r>
              <a:rPr lang="en-GB" sz="1700" i="0" dirty="0" err="1"/>
              <a:t>thr</a:t>
            </a:r>
            <a:r>
              <a:rPr lang="en-GB" sz="1700" i="0" dirty="0"/>
              <a:t> 0.60, purity 80%, N=303.</a:t>
            </a:r>
            <a:endParaRPr lang="en-US" sz="1700" i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18A8D7C-FF52-A91C-1669-E461EC88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877708"/>
            <a:ext cx="4999885" cy="30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24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DA0FF-D1FB-90F8-E8C6-DA73D38B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Selection Deepens the Modulation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A28-0BFE-F892-04B9-945839EC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99" y="2361601"/>
            <a:ext cx="4550867" cy="3416900"/>
          </a:xfrm>
        </p:spPr>
        <p:txBody>
          <a:bodyPr>
            <a:normAutofit/>
          </a:bodyPr>
          <a:lstStyle/>
          <a:p>
            <a:r>
              <a:rPr lang="en-GB" dirty="0"/>
              <a:t>⟨cos2</a:t>
            </a:r>
            <a:r>
              <a:rPr lang="el-GR" dirty="0"/>
              <a:t>ψ₁₂⟩ </a:t>
            </a:r>
            <a:r>
              <a:rPr lang="en-GB" dirty="0"/>
              <a:t>deepens monotonically as </a:t>
            </a:r>
            <a:r>
              <a:rPr lang="en-GB" dirty="0" err="1"/>
              <a:t>qq</a:t>
            </a:r>
            <a:r>
              <a:rPr lang="en-GB" dirty="0"/>
              <a:t>̄ purity rises;</a:t>
            </a:r>
          </a:p>
          <a:p>
            <a:r>
              <a:rPr lang="en-GB" dirty="0"/>
              <a:t>Background (</a:t>
            </a:r>
            <a:r>
              <a:rPr lang="en-GB" dirty="0" err="1"/>
              <a:t>qg+gg</a:t>
            </a:r>
            <a:r>
              <a:rPr lang="en-GB" dirty="0"/>
              <a:t>) stays at −0.080.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009FEAF-42B9-0367-7F3A-F04F19A4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721462"/>
            <a:ext cx="4999885" cy="341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0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A65EC-5C77-CE26-68FA-C0777350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395288"/>
            <a:ext cx="4078800" cy="1597753"/>
          </a:xfrm>
        </p:spPr>
        <p:txBody>
          <a:bodyPr wrap="square" anchor="b">
            <a:normAutofit/>
          </a:bodyPr>
          <a:lstStyle/>
          <a:p>
            <a:pPr algn="ctr"/>
            <a:r>
              <a:rPr lang="en-GB" dirty="0"/>
              <a:t>Conclusions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7905-E7C5-FD3C-A084-6DB6D80BB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000" y="2361601"/>
            <a:ext cx="4078800" cy="34169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GB" sz="1300"/>
              <a:t>Pipeline reproduces expected </a:t>
            </a:r>
            <a:r>
              <a:rPr lang="en-GB" sz="1300" err="1"/>
              <a:t>g→qq</a:t>
            </a:r>
            <a:r>
              <a:rPr lang="en-GB" sz="1300"/>
              <a:t>̄ signal: −0.167, </a:t>
            </a:r>
            <a:r>
              <a:rPr lang="el-GR" sz="1300"/>
              <a:t>ψ </a:t>
            </a:r>
            <a:r>
              <a:rPr lang="en-GB" sz="1300"/>
              <a:t>peaks at </a:t>
            </a:r>
            <a:r>
              <a:rPr lang="el-GR" sz="1300"/>
              <a:t>π/2</a:t>
            </a:r>
            <a:r>
              <a:rPr lang="pt-PT" sz="1300"/>
              <a:t>;</a:t>
            </a:r>
          </a:p>
          <a:p>
            <a:pPr>
              <a:lnSpc>
                <a:spcPct val="140000"/>
              </a:lnSpc>
            </a:pPr>
            <a:r>
              <a:rPr lang="en-GB" sz="1300"/>
              <a:t>Binary classifier enriches signal: modulation deepens to −0.24 at 80% purity</a:t>
            </a:r>
            <a:r>
              <a:rPr lang="pt-PT" sz="1300"/>
              <a:t>;</a:t>
            </a:r>
          </a:p>
          <a:p>
            <a:pPr>
              <a:lnSpc>
                <a:spcPct val="140000"/>
              </a:lnSpc>
            </a:pPr>
            <a:r>
              <a:rPr lang="en-GB" sz="1300"/>
              <a:t>AUC ceiling (~0.72) is a physics limit, confirmed by 5.8M-row test</a:t>
            </a:r>
            <a:r>
              <a:rPr lang="pt-PT" sz="1300"/>
              <a:t>;</a:t>
            </a:r>
          </a:p>
          <a:p>
            <a:pPr>
              <a:lnSpc>
                <a:spcPct val="140000"/>
              </a:lnSpc>
            </a:pPr>
            <a:r>
              <a:rPr lang="en-GB" sz="1300"/>
              <a:t>Limiting factor is statistics in the high-purity tail which motivates more high-</a:t>
            </a:r>
            <a:r>
              <a:rPr lang="en-GB" sz="1300" err="1"/>
              <a:t>pT</a:t>
            </a:r>
            <a:r>
              <a:rPr lang="en-GB" sz="1300"/>
              <a:t> data</a:t>
            </a:r>
            <a:r>
              <a:rPr lang="pt-PT" sz="1300"/>
              <a:t>;</a:t>
            </a:r>
            <a:endParaRPr lang="en-US" sz="13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9CF63D-A2A3-4ECF-BC53-4B0D56918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540033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E38E4B6-9B03-EAE5-3215-3525154DD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1721462"/>
            <a:ext cx="4999885" cy="341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98632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444</Words>
  <Application>Microsoft Macintosh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Avenir Next LT Pro</vt:lpstr>
      <vt:lpstr>Goudy Old Style</vt:lpstr>
      <vt:lpstr>Wingdings</vt:lpstr>
      <vt:lpstr>FrostyVTI</vt:lpstr>
      <vt:lpstr>Progress Report</vt:lpstr>
      <vt:lpstr>Dataset and Labelling</vt:lpstr>
      <vt:lpstr>Spin Signal per Channel2</vt:lpstr>
      <vt:lpstr>Two-Vertex Structure</vt:lpstr>
      <vt:lpstr>4-Class and 3-Class DNNs</vt:lpstr>
      <vt:lpstr>Stage-1: Binary Matched vs Unmatched</vt:lpstr>
      <vt:lpstr>Stage-2: Binary qq vs Rest</vt:lpstr>
      <vt:lpstr>Purity vs Efficiency</vt:lpstr>
      <vt:lpstr>Selection Deepens the Modulation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MARIA NEVES DE BARBOSA MENDONÇA</dc:creator>
  <cp:lastModifiedBy>ALEXANDRE MARIA NEVES DE BARBOSA MENDONÇA</cp:lastModifiedBy>
  <cp:revision>2</cp:revision>
  <dcterms:created xsi:type="dcterms:W3CDTF">2025-10-24T13:12:01Z</dcterms:created>
  <dcterms:modified xsi:type="dcterms:W3CDTF">2026-06-24T14:19:13Z</dcterms:modified>
</cp:coreProperties>
</file>